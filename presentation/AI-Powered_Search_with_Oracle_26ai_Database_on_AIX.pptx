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18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88F6-75EE-9711-534A-4130988F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429E3-9E29-2246-8673-A69F581E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7EDA0-8C8A-F97C-48E2-9BA4FE484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DA3A-0937-CFDA-9B94-D7BF9E66B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03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95893"/>
            <a:ext cx="6000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SEARCH
WITH ORACLE 26 AI
DATABASE ON AIX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947495"/>
            <a:ext cx="4286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Modernizing Search: From Keywords to AI-Driven Insights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933332"/>
            <a:ext cx="60007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D27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Enterprise-Grade AI Infrastructure | IBM Power Systems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6572250" y="0"/>
            <a:ext cx="2571750" cy="51435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078" y="2129730"/>
            <a:ext cx="750094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E9C9-29D8-0703-C1C2-67133A17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DB18EC-5608-CBAB-B0FF-74DB077ECFFC}"/>
              </a:ext>
            </a:extLst>
          </p:cNvPr>
          <p:cNvSpPr/>
          <p:nvPr/>
        </p:nvSpPr>
        <p:spPr>
          <a:xfrm>
            <a:off x="0" y="47958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D4941F-99DF-3EC3-8A89-684F608D013C}"/>
              </a:ext>
            </a:extLst>
          </p:cNvPr>
          <p:cNvSpPr/>
          <p:nvPr/>
        </p:nvSpPr>
        <p:spPr>
          <a:xfrm>
            <a:off x="274320" y="4795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— Pipeline Architecture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0D862F-7028-1E33-CE4E-CE87DF2FA5D7}"/>
              </a:ext>
            </a:extLst>
          </p:cNvPr>
          <p:cNvSpPr/>
          <p:nvPr/>
        </p:nvSpPr>
        <p:spPr>
          <a:xfrm>
            <a:off x="7132320" y="552732"/>
            <a:ext cx="1920240" cy="438912"/>
          </a:xfrm>
          <a:prstGeom prst="roundRect">
            <a:avLst>
              <a:gd name="adj" fmla="val 10417"/>
            </a:avLst>
          </a:prstGeom>
          <a:solidFill>
            <a:srgbClr val="E8511B"/>
          </a:solidFill>
          <a:ln w="12700">
            <a:solidFill>
              <a:srgbClr val="E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5D6ECE-52DC-E292-A42C-E24C95088773}"/>
              </a:ext>
            </a:extLst>
          </p:cNvPr>
          <p:cNvSpPr/>
          <p:nvPr/>
        </p:nvSpPr>
        <p:spPr>
          <a:xfrm>
            <a:off x="7132320" y="5527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26ai on AIX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9E520B-D9E1-784B-4FB7-BA105AA06C65}"/>
              </a:ext>
            </a:extLst>
          </p:cNvPr>
          <p:cNvSpPr/>
          <p:nvPr/>
        </p:nvSpPr>
        <p:spPr>
          <a:xfrm>
            <a:off x="274320" y="1192812"/>
            <a:ext cx="1298448" cy="2834640"/>
          </a:xfrm>
          <a:prstGeom prst="rect">
            <a:avLst/>
          </a:prstGeom>
          <a:solidFill>
            <a:srgbClr val="162437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1905B98-FAE4-1B07-03EE-FF22C3F5A7D8}"/>
              </a:ext>
            </a:extLst>
          </p:cNvPr>
          <p:cNvSpPr/>
          <p:nvPr/>
        </p:nvSpPr>
        <p:spPr>
          <a:xfrm>
            <a:off x="274320" y="1192812"/>
            <a:ext cx="1298448" cy="64008"/>
          </a:xfrm>
          <a:prstGeom prst="rect">
            <a:avLst/>
          </a:prstGeom>
          <a:solidFill>
            <a:srgbClr val="2D6A9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0AA43F-2AA1-4C81-AD4F-BDF04A4C3BAC}"/>
              </a:ext>
            </a:extLst>
          </p:cNvPr>
          <p:cNvSpPr/>
          <p:nvPr/>
        </p:nvSpPr>
        <p:spPr>
          <a:xfrm>
            <a:off x="347472" y="132082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4D3FE3-2A2B-9433-4DB6-B018C9DD7795}"/>
              </a:ext>
            </a:extLst>
          </p:cNvPr>
          <p:cNvSpPr/>
          <p:nvPr/>
        </p:nvSpPr>
        <p:spPr>
          <a:xfrm>
            <a:off x="347472" y="13208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C300FF5-4C31-4243-62F6-C2187D89E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695732"/>
            <a:ext cx="594360" cy="59436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0D68AA64-B81A-93B8-6088-D3E5A8023E8F}"/>
              </a:ext>
            </a:extLst>
          </p:cNvPr>
          <p:cNvSpPr/>
          <p:nvPr/>
        </p:nvSpPr>
        <p:spPr>
          <a:xfrm>
            <a:off x="320040" y="238153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8535B1-123D-36BC-69E3-9BB6C80DB76B}"/>
              </a:ext>
            </a:extLst>
          </p:cNvPr>
          <p:cNvSpPr/>
          <p:nvPr/>
        </p:nvSpPr>
        <p:spPr>
          <a:xfrm>
            <a:off x="320040" y="29301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44K+ Fashion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</a:t>
            </a:r>
            <a:endParaRPr lang="en-US" sz="9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9D42FC5-6ACA-F1E1-F4BF-E330EA1E442B}"/>
              </a:ext>
            </a:extLst>
          </p:cNvPr>
          <p:cNvSpPr/>
          <p:nvPr/>
        </p:nvSpPr>
        <p:spPr>
          <a:xfrm>
            <a:off x="1609344" y="2610132"/>
            <a:ext cx="34747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460469C-F62A-ED27-4018-DAEFAABE6E72}"/>
              </a:ext>
            </a:extLst>
          </p:cNvPr>
          <p:cNvSpPr/>
          <p:nvPr/>
        </p:nvSpPr>
        <p:spPr>
          <a:xfrm>
            <a:off x="1993392" y="1192812"/>
            <a:ext cx="1298448" cy="2834640"/>
          </a:xfrm>
          <a:prstGeom prst="rect">
            <a:avLst/>
          </a:prstGeom>
          <a:solidFill>
            <a:srgbClr val="162437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E28E6A5-A3ED-5814-5D78-FAF53E411390}"/>
              </a:ext>
            </a:extLst>
          </p:cNvPr>
          <p:cNvSpPr/>
          <p:nvPr/>
        </p:nvSpPr>
        <p:spPr>
          <a:xfrm>
            <a:off x="1993392" y="1192812"/>
            <a:ext cx="129844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F762AA1-6F85-C0DB-AE2C-27F094251E3B}"/>
              </a:ext>
            </a:extLst>
          </p:cNvPr>
          <p:cNvSpPr/>
          <p:nvPr/>
        </p:nvSpPr>
        <p:spPr>
          <a:xfrm>
            <a:off x="2066544" y="132082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F32DCC4-8A65-7FC6-3AE4-54E997519C8C}"/>
              </a:ext>
            </a:extLst>
          </p:cNvPr>
          <p:cNvSpPr/>
          <p:nvPr/>
        </p:nvSpPr>
        <p:spPr>
          <a:xfrm>
            <a:off x="2066544" y="13208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B5C932AA-DE57-EE8B-DEB4-CA3BD5F03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36" y="1695732"/>
            <a:ext cx="594360" cy="59436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B85C4081-C6ED-4BF9-694F-0D0A9C3BF7B1}"/>
              </a:ext>
            </a:extLst>
          </p:cNvPr>
          <p:cNvSpPr/>
          <p:nvPr/>
        </p:nvSpPr>
        <p:spPr>
          <a:xfrm>
            <a:off x="2039112" y="238153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Model</a:t>
            </a:r>
            <a:endParaRPr lang="en-US" sz="1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59859B8-48E1-74A9-D60A-2AB6EA4A7DED}"/>
              </a:ext>
            </a:extLst>
          </p:cNvPr>
          <p:cNvSpPr/>
          <p:nvPr/>
        </p:nvSpPr>
        <p:spPr>
          <a:xfrm>
            <a:off x="2039112" y="29301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</a:t>
            </a:r>
            <a:endParaRPr lang="en-US" sz="9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87B81A5-837C-479F-47EF-56A694BA7339}"/>
              </a:ext>
            </a:extLst>
          </p:cNvPr>
          <p:cNvSpPr/>
          <p:nvPr/>
        </p:nvSpPr>
        <p:spPr>
          <a:xfrm>
            <a:off x="3328416" y="2610132"/>
            <a:ext cx="34747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D6FA3EAD-637F-A098-F068-02EACE231E6E}"/>
              </a:ext>
            </a:extLst>
          </p:cNvPr>
          <p:cNvSpPr/>
          <p:nvPr/>
        </p:nvSpPr>
        <p:spPr>
          <a:xfrm>
            <a:off x="3712464" y="1192812"/>
            <a:ext cx="1298448" cy="2834640"/>
          </a:xfrm>
          <a:prstGeom prst="rect">
            <a:avLst/>
          </a:prstGeom>
          <a:solidFill>
            <a:srgbClr val="162437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0F180511-62E8-029C-8D9D-3081F81A88AD}"/>
              </a:ext>
            </a:extLst>
          </p:cNvPr>
          <p:cNvSpPr/>
          <p:nvPr/>
        </p:nvSpPr>
        <p:spPr>
          <a:xfrm>
            <a:off x="3712464" y="1192812"/>
            <a:ext cx="129844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F7564F7D-31F3-0A3A-9506-A558284918BA}"/>
              </a:ext>
            </a:extLst>
          </p:cNvPr>
          <p:cNvSpPr/>
          <p:nvPr/>
        </p:nvSpPr>
        <p:spPr>
          <a:xfrm>
            <a:off x="3785616" y="132082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1A5A6B"/>
          </a:solidFill>
          <a:ln w="12700">
            <a:solidFill>
              <a:srgbClr val="1A5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C82F40E-8E32-7252-D596-CB94E6701AC8}"/>
              </a:ext>
            </a:extLst>
          </p:cNvPr>
          <p:cNvSpPr/>
          <p:nvPr/>
        </p:nvSpPr>
        <p:spPr>
          <a:xfrm>
            <a:off x="3785616" y="13208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INFERENCE</a:t>
            </a:r>
            <a:endParaRPr lang="en-US" sz="80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746A5E63-CE34-5D04-3391-781AA7F08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508" y="1695732"/>
            <a:ext cx="594360" cy="594360"/>
          </a:xfrm>
          <a:prstGeom prst="rect">
            <a:avLst/>
          </a:prstGeom>
        </p:spPr>
      </p:pic>
      <p:sp>
        <p:nvSpPr>
          <p:cNvPr id="27" name="Text 22">
            <a:extLst>
              <a:ext uri="{FF2B5EF4-FFF2-40B4-BE49-F238E27FC236}">
                <a16:creationId xmlns:a16="http://schemas.microsoft.com/office/drawing/2014/main" id="{76D1AAE7-D487-A0C2-1451-1B97959DC643}"/>
              </a:ext>
            </a:extLst>
          </p:cNvPr>
          <p:cNvSpPr/>
          <p:nvPr/>
        </p:nvSpPr>
        <p:spPr>
          <a:xfrm>
            <a:off x="3758184" y="238153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393BDDD2-BB6B-1687-7036-4C2628F16EC2}"/>
              </a:ext>
            </a:extLst>
          </p:cNvPr>
          <p:cNvSpPr/>
          <p:nvPr/>
        </p:nvSpPr>
        <p:spPr>
          <a:xfrm>
            <a:off x="3758184" y="29301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5001 · AIX</a:t>
            </a:r>
            <a:endParaRPr lang="en-US" sz="95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3C4E0D3F-751D-C8DE-7538-EBCEF85CDF9B}"/>
              </a:ext>
            </a:extLst>
          </p:cNvPr>
          <p:cNvSpPr/>
          <p:nvPr/>
        </p:nvSpPr>
        <p:spPr>
          <a:xfrm>
            <a:off x="5047488" y="2610132"/>
            <a:ext cx="34747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CB809C3-E5FF-5CAF-9F11-618DAA82A729}"/>
              </a:ext>
            </a:extLst>
          </p:cNvPr>
          <p:cNvSpPr/>
          <p:nvPr/>
        </p:nvSpPr>
        <p:spPr>
          <a:xfrm>
            <a:off x="5431536" y="1192812"/>
            <a:ext cx="1298448" cy="2834640"/>
          </a:xfrm>
          <a:prstGeom prst="rect">
            <a:avLst/>
          </a:prstGeom>
          <a:solidFill>
            <a:srgbClr val="162437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A55925A7-6B9B-F70E-2FC3-9C98B8A11BEF}"/>
              </a:ext>
            </a:extLst>
          </p:cNvPr>
          <p:cNvSpPr/>
          <p:nvPr/>
        </p:nvSpPr>
        <p:spPr>
          <a:xfrm>
            <a:off x="5431536" y="1192812"/>
            <a:ext cx="1298448" cy="64008"/>
          </a:xfrm>
          <a:prstGeom prst="rect">
            <a:avLst/>
          </a:prstGeom>
          <a:solidFill>
            <a:srgbClr val="E8511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07885CE1-D345-C191-A625-7AEEECCD187C}"/>
              </a:ext>
            </a:extLst>
          </p:cNvPr>
          <p:cNvSpPr/>
          <p:nvPr/>
        </p:nvSpPr>
        <p:spPr>
          <a:xfrm>
            <a:off x="5504688" y="132082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77699FFA-3937-787D-EF84-004D62912E6F}"/>
              </a:ext>
            </a:extLst>
          </p:cNvPr>
          <p:cNvSpPr/>
          <p:nvPr/>
        </p:nvSpPr>
        <p:spPr>
          <a:xfrm>
            <a:off x="5504688" y="13208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STORAGE</a:t>
            </a:r>
            <a:endParaRPr lang="en-US" sz="800" dirty="0"/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C27A8F00-669C-5BB6-DCB6-3FCEDB4FF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1695732"/>
            <a:ext cx="594360" cy="594360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B739B4CD-56CA-F2E3-92F2-18EFF475E32E}"/>
              </a:ext>
            </a:extLst>
          </p:cNvPr>
          <p:cNvSpPr/>
          <p:nvPr/>
        </p:nvSpPr>
        <p:spPr>
          <a:xfrm>
            <a:off x="5477256" y="238153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</a:t>
            </a:r>
            <a:endParaRPr lang="en-US" sz="12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1D26D476-0848-3931-025C-ECDCD25A880B}"/>
              </a:ext>
            </a:extLst>
          </p:cNvPr>
          <p:cNvSpPr/>
          <p:nvPr/>
        </p:nvSpPr>
        <p:spPr>
          <a:xfrm>
            <a:off x="5477256" y="29301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</a:t>
            </a:r>
            <a:endParaRPr lang="en-US" sz="9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4C4D75A2-40BE-4E46-69C8-D1F58D75F909}"/>
              </a:ext>
            </a:extLst>
          </p:cNvPr>
          <p:cNvSpPr/>
          <p:nvPr/>
        </p:nvSpPr>
        <p:spPr>
          <a:xfrm>
            <a:off x="6766560" y="2610132"/>
            <a:ext cx="34747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7E4348EC-CC91-0795-22BD-DA6DB123FB90}"/>
              </a:ext>
            </a:extLst>
          </p:cNvPr>
          <p:cNvSpPr/>
          <p:nvPr/>
        </p:nvSpPr>
        <p:spPr>
          <a:xfrm>
            <a:off x="7150608" y="1192812"/>
            <a:ext cx="1298448" cy="2834640"/>
          </a:xfrm>
          <a:prstGeom prst="rect">
            <a:avLst/>
          </a:prstGeom>
          <a:solidFill>
            <a:srgbClr val="162437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DBD9FE67-FE22-6447-1183-0B47D28837BF}"/>
              </a:ext>
            </a:extLst>
          </p:cNvPr>
          <p:cNvSpPr/>
          <p:nvPr/>
        </p:nvSpPr>
        <p:spPr>
          <a:xfrm>
            <a:off x="7150608" y="1192812"/>
            <a:ext cx="1298448" cy="64008"/>
          </a:xfrm>
          <a:prstGeom prst="rect">
            <a:avLst/>
          </a:prstGeom>
          <a:solidFill>
            <a:srgbClr val="E8511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0FD773AC-B616-CB71-F290-3C5751CB97A8}"/>
              </a:ext>
            </a:extLst>
          </p:cNvPr>
          <p:cNvSpPr/>
          <p:nvPr/>
        </p:nvSpPr>
        <p:spPr>
          <a:xfrm>
            <a:off x="7223760" y="132082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90D1553D-4220-294F-212D-0A9894AADB1A}"/>
              </a:ext>
            </a:extLst>
          </p:cNvPr>
          <p:cNvSpPr/>
          <p:nvPr/>
        </p:nvSpPr>
        <p:spPr>
          <a:xfrm>
            <a:off x="7223760" y="13208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3BBFADF8-5C75-482B-2681-18A6AAB5A3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2652" y="1695732"/>
            <a:ext cx="594360" cy="594360"/>
          </a:xfrm>
          <a:prstGeom prst="rect">
            <a:avLst/>
          </a:prstGeom>
        </p:spPr>
      </p:pic>
      <p:sp>
        <p:nvSpPr>
          <p:cNvPr id="43" name="Text 36">
            <a:extLst>
              <a:ext uri="{FF2B5EF4-FFF2-40B4-BE49-F238E27FC236}">
                <a16:creationId xmlns:a16="http://schemas.microsoft.com/office/drawing/2014/main" id="{81AE3822-C91B-F6B0-5726-52A930BA0E39}"/>
              </a:ext>
            </a:extLst>
          </p:cNvPr>
          <p:cNvSpPr/>
          <p:nvPr/>
        </p:nvSpPr>
        <p:spPr>
          <a:xfrm>
            <a:off x="7196328" y="238153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App</a:t>
            </a:r>
            <a:endParaRPr lang="en-US" sz="1200" dirty="0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4F3DB8B0-9064-0D0D-214D-A05BE836D6CC}"/>
              </a:ext>
            </a:extLst>
          </p:cNvPr>
          <p:cNvSpPr/>
          <p:nvPr/>
        </p:nvSpPr>
        <p:spPr>
          <a:xfrm>
            <a:off x="7196328" y="2930172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UI</a:t>
            </a:r>
            <a:endParaRPr lang="en-US" sz="950" dirty="0"/>
          </a:p>
        </p:txBody>
      </p:sp>
      <p:sp>
        <p:nvSpPr>
          <p:cNvPr id="55" name="Text 48">
            <a:extLst>
              <a:ext uri="{FF2B5EF4-FFF2-40B4-BE49-F238E27FC236}">
                <a16:creationId xmlns:a16="http://schemas.microsoft.com/office/drawing/2014/main" id="{18144AB0-AF9D-E49C-B670-70D9BF7C13D6}"/>
              </a:ext>
            </a:extLst>
          </p:cNvPr>
          <p:cNvSpPr/>
          <p:nvPr/>
        </p:nvSpPr>
        <p:spPr>
          <a:xfrm>
            <a:off x="1911096" y="44993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E8511B"/>
                </a:solidFill>
              </a:rPr>
              <a:t>Oracle AI Vector Search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08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WITH TRADITIONAL KEYWORD SEARCH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Match Dependency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Systems like "LIKE" search require users to know the precise database terminology, creating a barrier to discovery.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059311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"No Results" Trap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39703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Searching for "FIFA T-shirt" fails if the database only contains "Men's Football Jersey," leading to lost sales opportunities.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196953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Semantic Gap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477345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databases lack the ability to understand the intent or meaning behind user queries, relying solely on character matching.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86313" y="1707356"/>
            <a:ext cx="3786188" cy="3436144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72063" y="2498227"/>
            <a:ext cx="3214688" cy="246459"/>
          </a:xfrm>
          <a:prstGeom prst="rect">
            <a:avLst/>
          </a:prstGeom>
          <a:solidFill>
            <a:srgbClr val="F4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72063" y="2434233"/>
            <a:ext cx="3214688" cy="246459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D27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Search: "FIFA T-shirt"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072063" y="2823567"/>
            <a:ext cx="3214688" cy="57864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RESULTS FOUND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5072063" y="3687961"/>
            <a:ext cx="940380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012442" y="3687961"/>
            <a:ext cx="1660531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Content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672974" y="3687961"/>
            <a:ext cx="613776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Match?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072063" y="3937992"/>
            <a:ext cx="940380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FIFA T-shirt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012442" y="3937992"/>
            <a:ext cx="1660531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Men's Football Jersey</a:t>
            </a:r>
            <a:endParaRPr lang="en-US" sz="834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974" y="4059436"/>
            <a:ext cx="71438" cy="1143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44411" y="4048720"/>
            <a:ext cx="1928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5072063" y="4191595"/>
            <a:ext cx="940380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Office Wear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6012442" y="4191595"/>
            <a:ext cx="1660531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Suit</a:t>
            </a:r>
            <a:endParaRPr lang="en-US" sz="834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974" y="4313039"/>
            <a:ext cx="71438" cy="114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44411" y="4302323"/>
            <a:ext cx="1928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834" dirty="0"/>
          </a:p>
        </p:txBody>
      </p:sp>
      <p:sp>
        <p:nvSpPr>
          <p:cNvPr id="25" name="Text 20"/>
          <p:cNvSpPr/>
          <p:nvPr/>
        </p:nvSpPr>
        <p:spPr>
          <a:xfrm>
            <a:off x="5072063" y="4445198"/>
            <a:ext cx="940380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Luxury Bag</a:t>
            </a:r>
            <a:endParaRPr lang="en-US" sz="834" dirty="0"/>
          </a:p>
        </p:txBody>
      </p:sp>
      <p:sp>
        <p:nvSpPr>
          <p:cNvPr id="26" name="Text 21"/>
          <p:cNvSpPr/>
          <p:nvPr/>
        </p:nvSpPr>
        <p:spPr>
          <a:xfrm>
            <a:off x="6012442" y="4445198"/>
            <a:ext cx="1660531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Designer Tote</a:t>
            </a:r>
            <a:endParaRPr lang="en-US" sz="834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974" y="4566642"/>
            <a:ext cx="71438" cy="1143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44411" y="4555927"/>
            <a:ext cx="1928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SEARCH: UNDERSTANDING INTENT WITH VECTORS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Literal Matching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queries are converted into high-dimensional embedding vectors that capture the underlying meaning of the request.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059311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Similarity Functions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62920"/>
            <a:ext cx="11251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uses the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6641" y="3348633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VECTOR_DISTANCE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82516" y="3362920"/>
            <a:ext cx="9858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 with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577233"/>
            <a:ext cx="351829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 to find the closest matches in the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791545"/>
            <a:ext cx="9144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space.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4200525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Database Execution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4480917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similarity computations happen directly inside the Oracle 26 AI database, ensuring high performance and data security.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86313" y="1710928"/>
            <a:ext cx="3786188" cy="2607469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853803"/>
            <a:ext cx="3500438" cy="2464594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604147"/>
            <a:ext cx="385763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86313" y="5018484"/>
            <a:ext cx="8715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683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850" y="4814888"/>
            <a:ext cx="100013" cy="11430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181" y="4604147"/>
            <a:ext cx="342900" cy="342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757863" y="5018484"/>
            <a:ext cx="8715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</a:t>
            </a:r>
            <a:endParaRPr lang="en-US" sz="683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814888"/>
            <a:ext cx="100013" cy="114300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163" y="4604147"/>
            <a:ext cx="300038" cy="3429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29413" y="5018484"/>
            <a:ext cx="8715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AI</a:t>
            </a:r>
            <a:endParaRPr lang="en-US" sz="683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0950" y="4814888"/>
            <a:ext cx="100013" cy="11430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5281" y="4604147"/>
            <a:ext cx="342900" cy="3429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700963" y="5018484"/>
            <a:ext cx="8715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IMAGE-BASED SEARCH: BEYOND TEXT QUERIES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Querying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786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Instead of typing, users upload an image. The system answers: "Show me products that look like this."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844998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CLIP Model Integration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125391"/>
            <a:ext cx="3786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image is converted into a high-dimensional embedding vector using the CLIP model.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768328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Comparison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048720"/>
            <a:ext cx="3786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compares the query vector against product image embeddings stored directly in the database.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86313" y="1707356"/>
            <a:ext cx="3786188" cy="3436144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70820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43563" y="2278856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UPLOAD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5643563" y="2436019"/>
            <a:ext cx="26431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provides a visual reference</a:t>
            </a:r>
            <a:endParaRPr lang="en-US" sz="72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41" y="2983409"/>
            <a:ext cx="321469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43563" y="2991445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CLIP EMBEDDING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5643563" y="3148608"/>
            <a:ext cx="26431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to numerical vector</a:t>
            </a:r>
            <a:endParaRPr lang="en-US" sz="727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695998"/>
            <a:ext cx="285750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43563" y="3704034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DISTANCE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5643563" y="3861197"/>
            <a:ext cx="26431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Similarity search in Oracle 26 AI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5229225" y="4674691"/>
            <a:ext cx="290036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"Show me products that look like this image"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BROWSING AND SEARCH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03759"/>
            <a:ext cx="344197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Data Handling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784152"/>
            <a:ext cx="34419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combines AI-driven similarity search with traditional structured data like inventory levels in a single, high-performance query.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41402"/>
            <a:ext cx="344197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Intelligence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21794"/>
            <a:ext cx="34419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recommendations are not only relevant but also available for purchase, enhancing the user experience and conversion rates.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779044"/>
            <a:ext cx="344197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059436"/>
            <a:ext cx="34419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Displaying stock counts and "Notify Me" options alongside AI results directly from the database core.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42101" y="1289447"/>
            <a:ext cx="4130399" cy="3854053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27851" y="1575197"/>
            <a:ext cx="355889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QUERY RESULT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27851" y="1891308"/>
            <a:ext cx="1303818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31669" y="1891308"/>
            <a:ext cx="844553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SIMILARITY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876222" y="1891308"/>
            <a:ext cx="498444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374666" y="1891308"/>
            <a:ext cx="912084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727851" y="2141339"/>
            <a:ext cx="1303818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Men's Office Blazer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031669" y="2141339"/>
            <a:ext cx="844553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0.98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876222" y="2141339"/>
            <a:ext cx="498444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7374666" y="2252067"/>
            <a:ext cx="748308" cy="132159"/>
          </a:xfrm>
          <a:prstGeom prst="rect">
            <a:avLst/>
          </a:prstGeom>
          <a:solidFill>
            <a:srgbClr val="328C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74666" y="2252067"/>
            <a:ext cx="748308" cy="132159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TO CART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727851" y="2394942"/>
            <a:ext cx="1303818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Silk Tie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031669" y="2394942"/>
            <a:ext cx="844553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876222" y="2394942"/>
            <a:ext cx="498444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7374666" y="2505670"/>
            <a:ext cx="617934" cy="132159"/>
          </a:xfrm>
          <a:prstGeom prst="rect">
            <a:avLst/>
          </a:prstGeom>
          <a:solidFill>
            <a:srgbClr val="D9B3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74666" y="2505670"/>
            <a:ext cx="617934" cy="132159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D27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NOTIFY ME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4727851" y="2648545"/>
            <a:ext cx="1303818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Leather Oxfords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031669" y="2648545"/>
            <a:ext cx="844553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0.89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876222" y="2648545"/>
            <a:ext cx="498444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7374666" y="2759273"/>
            <a:ext cx="748308" cy="132159"/>
          </a:xfrm>
          <a:prstGeom prst="rect">
            <a:avLst/>
          </a:prstGeom>
          <a:solidFill>
            <a:srgbClr val="328C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74666" y="2759273"/>
            <a:ext cx="748308" cy="132159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TO CART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4727851" y="3120033"/>
            <a:ext cx="3558899" cy="785813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727851" y="3120033"/>
            <a:ext cx="28575" cy="785813"/>
          </a:xfrm>
          <a:prstGeom prst="rect">
            <a:avLst/>
          </a:prstGeom>
          <a:solidFill>
            <a:srgbClr val="D9B3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27851" y="3120033"/>
            <a:ext cx="3558899" cy="785813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4F7F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 product_name, stock_count,
VECTOR_DISTANCE(embedding, :query_vec) as sim
FROM products
WHERE category = 'Office' AND sim &lt; 0.5
ORDER BY sim ASC;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 OF PURE IMAGE SIMILARITY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418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Ambiguity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41828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image search prioritizes shape, color, and texture, which can lead to category confusion in complex catalogs.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059311"/>
            <a:ext cx="3418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"Cufflinks vs. Earrings" Problem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39703"/>
            <a:ext cx="341828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Small, shiny objects like cufflinks can be visually indistinguishable from earrings to a model focused only on pixels.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196953"/>
            <a:ext cx="3418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Blindness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477345"/>
            <a:ext cx="341828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semantic metadata, the system lacks the functional understanding required for precise e-commerce recommendations.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8409" y="1707356"/>
            <a:ext cx="4154091" cy="3436144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420" y="2527995"/>
            <a:ext cx="571500" cy="571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4159" y="3242370"/>
            <a:ext cx="10260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CUFFLINKS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5730208" y="2685157"/>
            <a:ext cx="153052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 PIXELS</a:t>
            </a:r>
            <a:endParaRPr lang="en-US" sz="1602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989" y="2527995"/>
            <a:ext cx="571500" cy="57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0729" y="3242370"/>
            <a:ext cx="10260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EARRINGS</a:t>
            </a:r>
            <a:endParaRPr lang="en-US" sz="88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277" y="3858518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3727" y="3842445"/>
            <a:ext cx="209490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MISMATCH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4861322" y="4122837"/>
            <a:ext cx="326826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Visually similar items often belong to entirely different product categories, leading to irrelevant user experiences.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0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VECTOR SEARCH: THE POWER OF LATE FUSION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Multi-Signal Intelligence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combines multiple signals—image similarity and description similarity—into a single, unified query.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059311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Fusion Technique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39703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database calculates separate scores for different modalities and merges them into a final hybrid ranking.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196953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Superior Search Precision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477345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Eliminates irrelevant results by understanding both visual appearance and semantic product meaning simultaneously.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86313" y="1707356"/>
            <a:ext cx="3786188" cy="3448645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41" y="2143125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9206" y="2500313"/>
            <a:ext cx="15216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
EMBEDDING</a:t>
            </a:r>
            <a:endParaRPr lang="en-US" sz="68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641" y="2143125"/>
            <a:ext cx="214313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57988" y="2500313"/>
            <a:ext cx="15216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
EMBEDDING</a:t>
            </a:r>
            <a:endParaRPr lang="en-US" sz="683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397" y="2964656"/>
            <a:ext cx="150019" cy="1714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93656" y="3350419"/>
            <a:ext cx="633796" cy="632222"/>
          </a:xfrm>
          <a:prstGeom prst="ellipse">
            <a:avLst/>
          </a:prstGeom>
          <a:solidFill>
            <a:srgbClr val="D9B3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393656" y="3539315"/>
            <a:ext cx="633796" cy="19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D27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FUSION</a:t>
            </a:r>
            <a:endParaRPr lang="en-US" sz="1193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113" y="4136231"/>
            <a:ext cx="128588" cy="1714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072063" y="4450556"/>
            <a:ext cx="3214688" cy="280392"/>
          </a:xfrm>
          <a:prstGeom prst="rect">
            <a:avLst/>
          </a:prstGeom>
          <a:solidFill>
            <a:srgbClr val="328C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64919" y="4374654"/>
            <a:ext cx="3214688" cy="28039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RANKING</a:t>
            </a:r>
            <a:endParaRPr lang="en-US" sz="987" dirty="0"/>
          </a:p>
        </p:txBody>
      </p:sp>
      <p:sp>
        <p:nvSpPr>
          <p:cNvPr id="21" name="Text 14"/>
          <p:cNvSpPr/>
          <p:nvPr/>
        </p:nvSpPr>
        <p:spPr>
          <a:xfrm>
            <a:off x="5433715" y="5016698"/>
            <a:ext cx="24913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"Show me cufflinks that look like this image"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ARCHITECTURE: AI-DRIVEN SEARCH ON ENTERPRISE INFRASTRUCTURE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21669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Execution &amp; Optimization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02061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CLIP models run on the ONNX runtime, specifically optimized for high-performance execution on the AIX platform.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059311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Vector Storage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39703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 are stored directly within Oracle 26 AI Database, eliminating the complexity of external vector stores.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196953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Enterprise-Grade Foundation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477345"/>
            <a:ext cx="37861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entire stack leverages IBM Power Systems with AIX, providing the reliability and scale required for mission-critical AI.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86313" y="1864519"/>
            <a:ext cx="3786188" cy="2857500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72063" y="2150269"/>
            <a:ext cx="3214688" cy="428625"/>
          </a:xfrm>
          <a:prstGeom prst="rect">
            <a:avLst/>
          </a:prstGeom>
          <a:solidFill>
            <a:srgbClr val="D9B3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72063" y="2150269"/>
            <a:ext cx="3214688" cy="4286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D27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APPLICATION LAYER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072063" y="2686050"/>
            <a:ext cx="3214688" cy="428625"/>
          </a:xfrm>
          <a:prstGeom prst="rect">
            <a:avLst/>
          </a:prstGeom>
          <a:solidFill>
            <a:srgbClr val="328C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72063" y="2686050"/>
            <a:ext cx="3214688" cy="4286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CLIP MODEL (ONNX RUNTIME)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072063" y="3221831"/>
            <a:ext cx="3214688" cy="4286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26 AI DATABASE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72063" y="3757613"/>
            <a:ext cx="3214688" cy="4286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AIX OPERATING SYSTEM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5072063" y="4293394"/>
            <a:ext cx="3214688" cy="428625"/>
          </a:xfrm>
          <a:prstGeom prst="rect">
            <a:avLst/>
          </a:prstGeom>
          <a:solidFill>
            <a:srgbClr val="328C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72063" y="4293394"/>
            <a:ext cx="3214688" cy="4286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7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POWER SYSTEMS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86313" y="4864894"/>
            <a:ext cx="37861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ENTERPRISE AI STACK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SUMMARY: THE FUTURE OF DATABASE SEARCH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769864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1707356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Intelligence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1143000" y="1987748"/>
            <a:ext cx="32861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similarity combined with semantic understanding in a single, native database environment.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69864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86375" y="1707356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Simplified Stack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5286375" y="1987748"/>
            <a:ext cx="32861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external AI search engines or specialized vector databases required, reducing architectural complexity.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202186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139678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&amp; Scale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1143000" y="3420070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Oracle's native vector capabilities on robust IBM Power Systems with AIX infrastructure.</a:t>
            </a:r>
            <a:endParaRPr lang="en-US" sz="94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453" y="3202186"/>
            <a:ext cx="321469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86375" y="3139678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Value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5286375" y="3420070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28C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more relevant, available, and intuitive search experiences that drive customer conversion.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1D2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1628775" y="4700588"/>
            <a:ext cx="58864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D9B3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AI NATIVELY ON ORACLE 26 AI &amp; AIX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Macintosh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monospace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Naved Afroz</cp:lastModifiedBy>
  <cp:revision>6</cp:revision>
  <dcterms:created xsi:type="dcterms:W3CDTF">2026-03-17T11:54:14Z</dcterms:created>
  <dcterms:modified xsi:type="dcterms:W3CDTF">2026-03-25T06:45:29Z</dcterms:modified>
</cp:coreProperties>
</file>